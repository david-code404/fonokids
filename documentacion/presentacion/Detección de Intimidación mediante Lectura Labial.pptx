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www.redalyc.org/journal/6137/613772153012/html/" TargetMode="External"/><Relationship Id="rId1" Type="http://schemas.openxmlformats.org/officeDocument/2006/relationships/hyperlink" Target="https://www.nidcd.nih.gov/health/statistics/quick-statistics-voice-speech-language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acamh.onlinelibrary.wiley.com/doi/full/10.1002/jcv2.12126" TargetMode="Externa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hyperlink" Target="https://arxiv.org/abs/2005.08100" TargetMode="External"/><Relationship Id="rId2" Type="http://schemas.openxmlformats.org/officeDocument/2006/relationships/hyperlink" Target="https://arxiv.org/abs/2001.08702" TargetMode="External"/><Relationship Id="rId1" Type="http://schemas.openxmlformats.org/officeDocument/2006/relationships/hyperlink" Target="https://arxiv.org/abs/1703.07332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tags" Target="../tags/tag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tags" Target="../tags/tag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hyperlink" Target="https://www.robots.ox.ac.uk/~vgg/publications/2016/Chung16/chung16.pdf" TargetMode="External"/><Relationship Id="rId8" Type="http://schemas.openxmlformats.org/officeDocument/2006/relationships/hyperlink" Target="https://arxiv.org/abs/1706.03762" TargetMode="External"/><Relationship Id="rId7" Type="http://schemas.openxmlformats.org/officeDocument/2006/relationships/hyperlink" Target="https://arxiv.org/abs/2005.08100" TargetMode="External"/><Relationship Id="rId6" Type="http://schemas.openxmlformats.org/officeDocument/2006/relationships/hyperlink" Target="https://arxiv.org/abs/2001.08702" TargetMode="External"/><Relationship Id="rId5" Type="http://schemas.openxmlformats.org/officeDocument/2006/relationships/hyperlink" Target="https://arxiv.org/abs/1703.07332" TargetMode="External"/><Relationship Id="rId4" Type="http://schemas.openxmlformats.org/officeDocument/2006/relationships/hyperlink" Target="https://acamh.onlinelibrary.wiley.com/doi/full/10.1002/jcv2.12126" TargetMode="External"/><Relationship Id="rId3" Type="http://schemas.openxmlformats.org/officeDocument/2006/relationships/hyperlink" Target="https://www.frontiersin.org/journals/psychology/articles/10.3389/fpsyg.2021.718110/full" TargetMode="External"/><Relationship Id="rId2" Type="http://schemas.openxmlformats.org/officeDocument/2006/relationships/hyperlink" Target="https://www.redalyc.org/journal/6137/613772153012/html/" TargetMode="External"/><Relationship Id="rId11" Type="http://schemas.openxmlformats.org/officeDocument/2006/relationships/slideLayout" Target="../slideLayouts/slideLayout7.xml"/><Relationship Id="rId10" Type="http://schemas.openxmlformats.org/officeDocument/2006/relationships/hyperlink" Target="https://arxiv.org/abs/2006.11477" TargetMode="External"/><Relationship Id="rId1" Type="http://schemas.openxmlformats.org/officeDocument/2006/relationships/hyperlink" Target="https://www.nidcd.nih.gov/health/statistics/quick-statistics-voice-speech-languag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27050"/>
            <a:ext cx="10058400" cy="2127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DD4BF"/>
                </a:solidFill>
              </a:rPr>
              <a:t>FonoKids</a:t>
            </a:r>
            <a:endParaRPr sz="5400" b="1">
              <a:solidFill>
                <a:srgbClr val="2DD4BF"/>
              </a:solidFill>
            </a:endParaRPr>
          </a:p>
          <a:p>
            <a:pPr>
              <a:spcBef>
                <a:spcPts val="1000"/>
              </a:spcBef>
            </a:pPr>
            <a:r>
              <a:rPr lang="es-ES" sz="4400">
                <a:solidFill>
                  <a:srgbClr val="FFFFFF"/>
                </a:solidFill>
              </a:rPr>
              <a:t>Desarrollo de </a:t>
            </a:r>
            <a:r>
              <a:rPr sz="4400">
                <a:solidFill>
                  <a:srgbClr val="FFFFFF"/>
                </a:solidFill>
              </a:rPr>
              <a:t>pronunciación infantil mediante lectura labial y análisis de voz</a:t>
            </a:r>
            <a:endParaRPr sz="4400">
              <a:solidFill>
                <a:srgbClr val="FFFFFF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9875520" cy="1568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s-ES" sz="2400" b="1">
                <a:solidFill>
                  <a:srgbClr val="C9D3DB"/>
                </a:solidFill>
              </a:rPr>
              <a:t>Una soluci</a:t>
            </a:r>
            <a:r>
              <a:rPr lang="en-US" altLang="en-US" sz="2400" b="1">
                <a:solidFill>
                  <a:srgbClr val="C9D3DB"/>
                </a:solidFill>
              </a:rPr>
              <a:t>ó</a:t>
            </a:r>
            <a:r>
              <a:rPr lang="en-US" altLang="es-ES" sz="2400" b="1">
                <a:solidFill>
                  <a:srgbClr val="C9D3DB"/>
                </a:solidFill>
              </a:rPr>
              <a:t>n avanzada que combina Reconocimiento de Habla Visual (VSR) y an</a:t>
            </a:r>
            <a:r>
              <a:rPr lang="en-US" altLang="en-US" sz="2400" b="1">
                <a:solidFill>
                  <a:srgbClr val="C9D3DB"/>
                </a:solidFill>
              </a:rPr>
              <a:t>á</a:t>
            </a:r>
            <a:r>
              <a:rPr lang="en-US" altLang="es-ES" sz="2400" b="1">
                <a:solidFill>
                  <a:srgbClr val="C9D3DB"/>
                </a:solidFill>
              </a:rPr>
              <a:t>lisis de audio (wav2vec2) para evaluar la pronunciaci</a:t>
            </a:r>
            <a:r>
              <a:rPr lang="en-US" altLang="en-US" sz="2400" b="1">
                <a:solidFill>
                  <a:srgbClr val="C9D3DB"/>
                </a:solidFill>
              </a:rPr>
              <a:t>ó</a:t>
            </a:r>
            <a:r>
              <a:rPr lang="en-US" altLang="es-ES" sz="2400" b="1">
                <a:solidFill>
                  <a:srgbClr val="C9D3DB"/>
                </a:solidFill>
              </a:rPr>
              <a:t>n de ni</a:t>
            </a:r>
            <a:r>
              <a:rPr lang="en-US" altLang="en-US" sz="2400" b="1">
                <a:solidFill>
                  <a:srgbClr val="C9D3DB"/>
                </a:solidFill>
              </a:rPr>
              <a:t>ñ</a:t>
            </a:r>
            <a:r>
              <a:rPr lang="en-US" altLang="es-ES" sz="2400" b="1">
                <a:solidFill>
                  <a:srgbClr val="C9D3DB"/>
                </a:solidFill>
              </a:rPr>
              <a:t>os practicando sonidos dif</a:t>
            </a:r>
            <a:r>
              <a:rPr lang="en-US" altLang="en-US" sz="2400" b="1">
                <a:solidFill>
                  <a:srgbClr val="C9D3DB"/>
                </a:solidFill>
              </a:rPr>
              <a:t>í</a:t>
            </a:r>
            <a:r>
              <a:rPr lang="en-US" altLang="es-ES" sz="2400" b="1">
                <a:solidFill>
                  <a:srgbClr val="C9D3DB"/>
                </a:solidFill>
              </a:rPr>
              <a:t>ciles como la "r", eliminando la necesidad de una revisi</a:t>
            </a:r>
            <a:r>
              <a:rPr lang="en-US" altLang="en-US" sz="2400" b="1">
                <a:solidFill>
                  <a:srgbClr val="C9D3DB"/>
                </a:solidFill>
              </a:rPr>
              <a:t>ó</a:t>
            </a:r>
            <a:r>
              <a:rPr lang="en-US" altLang="es-ES" sz="2400" b="1">
                <a:solidFill>
                  <a:srgbClr val="C9D3DB"/>
                </a:solidFill>
              </a:rPr>
              <a:t>n manual en cada intento.</a:t>
            </a:r>
            <a:endParaRPr lang="en-US" altLang="es-ES" sz="2400" b="1">
              <a:solidFill>
                <a:srgbClr val="C9D3DB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5120640"/>
            <a:ext cx="9875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C9D3DB"/>
                </a:solidFill>
              </a:rPr>
              <a:t>Estudiante: Quispe Sucullani Jose David</a:t>
            </a:r>
            <a:endParaRPr sz="1400">
              <a:solidFill>
                <a:srgbClr val="C9D3DB"/>
              </a:solidFill>
            </a:endParaRPr>
          </a:p>
          <a:p>
            <a:r>
              <a:rPr sz="1400">
                <a:solidFill>
                  <a:srgbClr val="C9D3DB"/>
                </a:solidFill>
              </a:rPr>
              <a:t>Docente: Pacheco Lora Carlos Walter</a:t>
            </a:r>
            <a:endParaRPr sz="1400">
              <a:solidFill>
                <a:srgbClr val="C9D3DB"/>
              </a:solidFill>
            </a:endParaRPr>
          </a:p>
          <a:p>
            <a:r>
              <a:rPr sz="1400">
                <a:solidFill>
                  <a:srgbClr val="C9D3DB"/>
                </a:solidFill>
              </a:rPr>
              <a:t>USFX -- Sucre, Bolivia (2026)</a:t>
            </a:r>
            <a:endParaRPr sz="1400">
              <a:solidFill>
                <a:srgbClr val="C9D3DB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78511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2DD4BF"/>
                </a:solidFill>
              </a:rPr>
              <a:t>Antecedentes</a:t>
            </a:r>
            <a:endParaRPr sz="3600" b="1">
              <a:solidFill>
                <a:srgbClr val="2DD4BF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424160" cy="1076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FFFFFF"/>
                </a:solidFill>
              </a:rPr>
              <a:t>La dificultad para pronunciar no es solo un detalle -- puede ser una herida silenciosa a la autoestima.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4206240" cy="2322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0" b="1">
                <a:solidFill>
                  <a:srgbClr val="2DD4BF"/>
                </a:solidFill>
              </a:rPr>
              <a:t>8-9%</a:t>
            </a:r>
            <a:endParaRPr sz="8000" b="1">
              <a:solidFill>
                <a:srgbClr val="2DD4BF"/>
              </a:solidFill>
            </a:endParaRP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C9D3DB"/>
                </a:solidFill>
              </a:rPr>
              <a:t>de los niños en edad preescolar presenta algún
trastorno del sonido del habla (NIDCD)</a:t>
            </a:r>
            <a:endParaRPr sz="2000">
              <a:solidFill>
                <a:srgbClr val="C9D3DB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17920" y="2651760"/>
            <a:ext cx="4206240" cy="2322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0" b="1">
                <a:solidFill>
                  <a:srgbClr val="2DD4BF"/>
                </a:solidFill>
              </a:rPr>
              <a:t>5%</a:t>
            </a:r>
            <a:endParaRPr sz="8000" b="1">
              <a:solidFill>
                <a:srgbClr val="2DD4BF"/>
              </a:solidFill>
            </a:endParaRP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C9D3DB"/>
                </a:solidFill>
              </a:rPr>
              <a:t>todavía lo mantiene sin resolver al llegar
a primer grado (NIDCD)</a:t>
            </a:r>
            <a:endParaRPr sz="2000">
              <a:solidFill>
                <a:srgbClr val="C9D3DB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5029200"/>
            <a:ext cx="1060704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BO" sz="1100" i="1">
                <a:solidFill>
                  <a:srgbClr val="6EC1E4"/>
                </a:solidFill>
              </a:rPr>
              <a:t>NIDCD(2023)</a:t>
            </a:r>
            <a:r>
              <a:rPr sz="1100" i="1">
                <a:solidFill>
                  <a:srgbClr val="6EC1E4"/>
                </a:solidFill>
                <a:hlinkClick r:id="rId1"/>
              </a:rPr>
              <a:t>, </a:t>
            </a:r>
            <a:r>
              <a:rPr lang="es-BO" sz="1100" i="1">
                <a:solidFill>
                  <a:srgbClr val="6EC1E4"/>
                </a:solidFill>
              </a:rPr>
              <a:t>INSTITUTO NACIONAL DE SORDERA Y OTROS TRANSTORNOS DE LA COMUNICAICON</a:t>
            </a:r>
            <a:endParaRPr lang="es-BO" sz="1100" i="1">
              <a:solidFill>
                <a:srgbClr val="6EC1E4"/>
              </a:solidFill>
              <a:hlinkClick r:id="rId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69367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BO" sz="3600" b="1">
                <a:solidFill>
                  <a:srgbClr val="2DD4BF"/>
                </a:solidFill>
              </a:rPr>
              <a:t>P</a:t>
            </a:r>
            <a:r>
              <a:rPr sz="3600" b="1">
                <a:solidFill>
                  <a:srgbClr val="2DD4BF"/>
                </a:solidFill>
              </a:rPr>
              <a:t>roblemática</a:t>
            </a:r>
            <a:endParaRPr sz="3600" b="1">
              <a:solidFill>
                <a:srgbClr val="2DD4BF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424160" cy="1383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rgbClr val="FFFFFF"/>
                </a:solidFill>
              </a:rPr>
              <a:t>Un chico que no puede pronunciar bien no solo enfrenta una barrera de comunicación --</a:t>
            </a:r>
            <a:endParaRPr sz="2800">
              <a:solidFill>
                <a:srgbClr val="FFFFFF"/>
              </a:solidFill>
            </a:endParaRPr>
          </a:p>
          <a:p>
            <a:r>
              <a:rPr sz="2800" b="1">
                <a:solidFill>
                  <a:srgbClr val="2DD4BF"/>
                </a:solidFill>
              </a:rPr>
              <a:t>enfrenta un riesgo real de aislamiento social.</a:t>
            </a:r>
            <a:endParaRPr sz="2800" b="1">
              <a:solidFill>
                <a:srgbClr val="2DD4B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4754880" cy="1548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DD4BF"/>
                </a:solidFill>
              </a:rPr>
              <a:t>Impacto social</a:t>
            </a:r>
            <a:endParaRPr sz="2800" b="1">
              <a:solidFill>
                <a:srgbClr val="2DD4BF"/>
              </a:solidFill>
            </a:endParaRP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C9D3DB"/>
                </a:solidFill>
              </a:rPr>
              <a:t>Más ansiedad social, menor autoestima y más victimización entre pares (Frontiers in Psychology, 2021; Wren et al., 2023).</a:t>
            </a:r>
            <a:endParaRPr sz="2000">
              <a:solidFill>
                <a:srgbClr val="C9D3DB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17920" y="2743200"/>
            <a:ext cx="4754880" cy="1855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DD4BF"/>
                </a:solidFill>
              </a:rPr>
              <a:t>Acceso limitado</a:t>
            </a:r>
            <a:endParaRPr sz="2800" b="1">
              <a:solidFill>
                <a:srgbClr val="2DD4BF"/>
              </a:solidFill>
            </a:endParaRP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C9D3DB"/>
                </a:solidFill>
              </a:rPr>
              <a:t>La respuesta disponible depende casi por completo de sesiones con un profesional, no siempre accesibles con la frecuencia necesaria para practicar.</a:t>
            </a:r>
            <a:endParaRPr sz="2000">
              <a:solidFill>
                <a:srgbClr val="C9D3DB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5029200"/>
            <a:ext cx="10607040" cy="1610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endParaRPr sz="1100" i="1">
              <a:solidFill>
                <a:srgbClr val="6EC1E4"/>
              </a:solidFill>
            </a:endParaRPr>
          </a:p>
          <a:p>
            <a:r>
              <a:rPr sz="3200" i="1">
                <a:solidFill>
                  <a:srgbClr val="6EC1E4"/>
                </a:solidFill>
                <a:hlinkClick r:id="rId1"/>
              </a:rPr>
              <a:t>Wren et al. (2023) JCPP Advances</a:t>
            </a:r>
            <a:endParaRPr sz="3200" i="1">
              <a:solidFill>
                <a:srgbClr val="6EC1E4"/>
              </a:solidFill>
              <a:hlinkClick r:id="rId1"/>
            </a:endParaRPr>
          </a:p>
          <a:p>
            <a:r>
              <a:rPr lang="en-US" altLang="es-ES" sz="3200" i="1">
                <a:solidFill>
                  <a:srgbClr val="6EC1E4"/>
                </a:solidFill>
                <a:hlinkClick r:id="rId1"/>
              </a:rPr>
              <a:t>Association for Child and Adolescent Mental Health (ACAMH).</a:t>
            </a:r>
            <a:endParaRPr lang="en-US" altLang="es-ES" sz="3200" i="1">
              <a:solidFill>
                <a:srgbClr val="6EC1E4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02819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2DD4BF"/>
                </a:solidFill>
              </a:rPr>
              <a:t>Abordaje </a:t>
            </a:r>
            <a:endParaRPr sz="3600" b="1">
              <a:solidFill>
                <a:srgbClr val="2DD4BF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972185"/>
            <a:ext cx="10424160" cy="4482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>
                <a:solidFill>
                  <a:srgbClr val="FFFFFF"/>
                </a:solidFill>
              </a:rPr>
              <a:t>•  FonoKids: </a:t>
            </a:r>
            <a:r>
              <a:rPr lang="es-BO" sz="2800">
                <a:solidFill>
                  <a:srgbClr val="FFFFFF"/>
                </a:solidFill>
              </a:rPr>
              <a:t>plataforma </a:t>
            </a:r>
            <a:r>
              <a:rPr sz="2800">
                <a:solidFill>
                  <a:srgbClr val="FFFFFF"/>
                </a:solidFill>
              </a:rPr>
              <a:t> de pronunciación </a:t>
            </a:r>
            <a:r>
              <a:rPr lang="es-BO" sz="2800">
                <a:solidFill>
                  <a:srgbClr val="FFFFFF"/>
                </a:solidFill>
              </a:rPr>
              <a:t>fonetica</a:t>
            </a:r>
            <a:endParaRPr sz="2800">
              <a:solidFill>
                <a:srgbClr val="FFFFFF"/>
              </a:solidFill>
            </a:endParaRPr>
          </a:p>
          <a:p>
            <a:pPr>
              <a:spcAft>
                <a:spcPts val="1000"/>
              </a:spcAft>
            </a:pPr>
            <a:r>
              <a:rPr sz="2800">
                <a:solidFill>
                  <a:srgbClr val="FFFFFF"/>
                </a:solidFill>
              </a:rPr>
              <a:t>•  El chico</a:t>
            </a:r>
            <a:r>
              <a:rPr lang="es-BO" sz="2800">
                <a:solidFill>
                  <a:srgbClr val="FFFFFF"/>
                </a:solidFill>
              </a:rPr>
              <a:t>/a</a:t>
            </a:r>
            <a:r>
              <a:rPr sz="2800">
                <a:solidFill>
                  <a:srgbClr val="FFFFFF"/>
                </a:solidFill>
              </a:rPr>
              <a:t> graba un video corto (cámara + micrófono) diciendo una palabra objetivo.</a:t>
            </a:r>
            <a:endParaRPr sz="2800">
              <a:solidFill>
                <a:srgbClr val="FFFFFF"/>
              </a:solidFill>
            </a:endParaRPr>
          </a:p>
          <a:p>
            <a:pPr>
              <a:spcAft>
                <a:spcPts val="1000"/>
              </a:spcAft>
            </a:pPr>
            <a:r>
              <a:rPr sz="2800">
                <a:solidFill>
                  <a:srgbClr val="FFFFFF"/>
                </a:solidFill>
              </a:rPr>
              <a:t>•  Video: HRNet extrae 68 landmarks faciales → 20 de labios → TCN + Conformer clasifica el movimiento.</a:t>
            </a:r>
            <a:endParaRPr sz="2800">
              <a:solidFill>
                <a:srgbClr val="FFFFFF"/>
              </a:solidFill>
            </a:endParaRPr>
          </a:p>
          <a:p>
            <a:pPr>
              <a:spcAft>
                <a:spcPts val="1000"/>
              </a:spcAft>
            </a:pPr>
            <a:r>
              <a:rPr sz="2800">
                <a:solidFill>
                  <a:srgbClr val="FFFFFF"/>
                </a:solidFill>
              </a:rPr>
              <a:t>•  Audio: wav2vec2 puntúa fonema por fonema y un clasificador entrenado reconoce el tipo de error.</a:t>
            </a:r>
            <a:endParaRPr sz="2800">
              <a:solidFill>
                <a:srgbClr val="FFFFFF"/>
              </a:solidFill>
            </a:endParaRPr>
          </a:p>
          <a:p>
            <a:pPr>
              <a:spcAft>
                <a:spcPts val="1000"/>
              </a:spcAft>
            </a:pPr>
            <a:r>
              <a:rPr sz="2800">
                <a:solidFill>
                  <a:srgbClr val="FFFFFF"/>
                </a:solidFill>
              </a:rPr>
              <a:t>•  Ambas señales se combinan en un solo veredicto: "bien dicho" o "a practicar".</a:t>
            </a:r>
            <a:endParaRPr sz="2800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5943600"/>
            <a:ext cx="1060704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1">
                <a:solidFill>
                  <a:schemeClr val="bg1"/>
                </a:solidFill>
                <a:highlight>
                  <a:srgbClr val="C0C0C0"/>
                </a:highlight>
                <a:hlinkClick r:id="rId1"/>
              </a:rPr>
              <a:t>HRNet/FAN: Bulat &amp; Tzimiropoulos (2017)</a:t>
            </a:r>
            <a:endParaRPr b="1" i="1">
              <a:solidFill>
                <a:schemeClr val="bg1"/>
              </a:solidFill>
              <a:highlight>
                <a:srgbClr val="C0C0C0"/>
              </a:highlight>
            </a:endParaRPr>
          </a:p>
          <a:p>
            <a:r>
              <a:rPr b="1" i="1">
                <a:solidFill>
                  <a:schemeClr val="bg1"/>
                </a:solidFill>
                <a:highlight>
                  <a:srgbClr val="C0C0C0"/>
                </a:highlight>
                <a:hlinkClick r:id="rId2"/>
              </a:rPr>
              <a:t>TCN: Martinez et al. (2020)</a:t>
            </a:r>
            <a:endParaRPr b="1" i="1">
              <a:solidFill>
                <a:schemeClr val="bg1"/>
              </a:solidFill>
              <a:highlight>
                <a:srgbClr val="C0C0C0"/>
              </a:highlight>
            </a:endParaRPr>
          </a:p>
          <a:p>
            <a:r>
              <a:rPr b="1" i="1">
                <a:solidFill>
                  <a:schemeClr val="bg1"/>
                </a:solidFill>
                <a:highlight>
                  <a:srgbClr val="C0C0C0"/>
                </a:highlight>
                <a:hlinkClick r:id="rId3"/>
              </a:rPr>
              <a:t>Conformer: Gulati et al. (2020)</a:t>
            </a:r>
            <a:endParaRPr b="1" i="1">
              <a:solidFill>
                <a:schemeClr val="bg1"/>
              </a:solidFill>
              <a:highlight>
                <a:srgbClr val="C0C0C0"/>
              </a:highlight>
              <a:hlinkClick r:id="rId3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41478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2DD4BF"/>
                </a:solidFill>
              </a:rPr>
              <a:t>HRNet</a:t>
            </a:r>
            <a:endParaRPr sz="3600" b="1">
              <a:solidFill>
                <a:srgbClr val="2DD4BF"/>
              </a:solidFill>
            </a:endParaRPr>
          </a:p>
        </p:txBody>
      </p:sp>
      <p:pic>
        <p:nvPicPr>
          <p:cNvPr id="9" name="Imagen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14932" t="38889" r="39583" b="17981"/>
          <a:stretch>
            <a:fillRect/>
          </a:stretch>
        </p:blipFill>
        <p:spPr>
          <a:xfrm>
            <a:off x="665480" y="1774190"/>
            <a:ext cx="6042660" cy="3686175"/>
          </a:xfrm>
          <a:prstGeom prst="rect">
            <a:avLst/>
          </a:prstGeom>
        </p:spPr>
      </p:pic>
      <p:sp>
        <p:nvSpPr>
          <p:cNvPr id="10" name="Cuadro de texto 9"/>
          <p:cNvSpPr txBox="1"/>
          <p:nvPr/>
        </p:nvSpPr>
        <p:spPr>
          <a:xfrm>
            <a:off x="7346315" y="2007235"/>
            <a:ext cx="3921125" cy="2014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sz="2800" b="1">
                <a:solidFill>
                  <a:schemeClr val="bg1"/>
                </a:solidFill>
                <a:ea typeface="Google Sans"/>
                <a:sym typeface="+mn-ea"/>
              </a:rPr>
              <a:t>HRNet</a:t>
            </a:r>
            <a:r>
              <a:rPr sz="2800">
                <a:solidFill>
                  <a:schemeClr val="bg1"/>
                </a:solidFill>
                <a:sym typeface="+mn-ea"/>
              </a:rPr>
              <a:t> (High-Resolution Network) es una arquitectura de </a:t>
            </a:r>
            <a:r>
              <a:rPr sz="2800">
                <a:solidFill>
                  <a:schemeClr val="bg1"/>
                </a:solidFill>
                <a:ea typeface="Google Sans"/>
                <a:sym typeface="+mn-ea"/>
              </a:rPr>
              <a:t>red neuronal convolucional (CNN)</a:t>
            </a:r>
            <a:r>
              <a:rPr sz="2800">
                <a:solidFill>
                  <a:schemeClr val="bg1"/>
                </a:solidFill>
                <a:sym typeface="+mn-ea"/>
              </a:rPr>
              <a:t> de vanguardia diseñada para tareas de visión artificial que requieren una </a:t>
            </a:r>
            <a:r>
              <a:rPr sz="2800">
                <a:solidFill>
                  <a:schemeClr val="bg1"/>
                </a:solidFill>
                <a:ea typeface="Google Sans"/>
                <a:sym typeface="+mn-ea"/>
              </a:rPr>
              <a:t>alta precisión espacial</a:t>
            </a:r>
            <a:endParaRPr lang="es-ES" altLang="en-US" sz="2800">
              <a:solidFill>
                <a:schemeClr val="bg1"/>
              </a:solidFill>
              <a:ea typeface="Google Sans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417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2DD4BF"/>
                </a:solidFill>
              </a:rPr>
              <a:t>TCN</a:t>
            </a:r>
            <a:endParaRPr sz="3600" b="1">
              <a:solidFill>
                <a:srgbClr val="2DD4BF"/>
              </a:solidFill>
            </a:endParaRPr>
          </a:p>
        </p:txBody>
      </p:sp>
      <p:pic>
        <p:nvPicPr>
          <p:cNvPr id="6" name="Imagen 5" descr="tcn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88620" y="1209675"/>
            <a:ext cx="7606665" cy="4852035"/>
          </a:xfrm>
          <a:prstGeom prst="rect">
            <a:avLst/>
          </a:prstGeom>
        </p:spPr>
      </p:pic>
      <p:sp>
        <p:nvSpPr>
          <p:cNvPr id="7" name="Cuadro de texto 6"/>
          <p:cNvSpPr txBox="1"/>
          <p:nvPr/>
        </p:nvSpPr>
        <p:spPr>
          <a:xfrm>
            <a:off x="8134350" y="1869440"/>
            <a:ext cx="3702685" cy="16275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sz="2800">
                <a:solidFill>
                  <a:schemeClr val="bg1"/>
                </a:solidFill>
                <a:sym typeface="+mn-ea"/>
              </a:rPr>
              <a:t>Es una arquitectura de </a:t>
            </a:r>
            <a:r>
              <a:rPr sz="2800" b="1">
                <a:solidFill>
                  <a:schemeClr val="bg1"/>
                </a:solidFill>
                <a:ea typeface="Google Sans"/>
                <a:sym typeface="+mn-ea"/>
              </a:rPr>
              <a:t>aprendizaje profundo (Deep Learning)</a:t>
            </a:r>
            <a:endParaRPr sz="2800" b="1">
              <a:solidFill>
                <a:schemeClr val="bg1"/>
              </a:solidFill>
              <a:ea typeface="Google Sans"/>
            </a:endParaRPr>
          </a:p>
          <a:p>
            <a:r>
              <a:rPr sz="2800">
                <a:solidFill>
                  <a:schemeClr val="bg1"/>
                </a:solidFill>
                <a:sym typeface="+mn-ea"/>
              </a:rPr>
              <a:t> diseñada específicamente para procesar y predecir datos secuenciales o </a:t>
            </a:r>
            <a:r>
              <a:rPr sz="2800" b="1">
                <a:solidFill>
                  <a:schemeClr val="bg1"/>
                </a:solidFill>
                <a:ea typeface="Google Sans"/>
                <a:sym typeface="+mn-ea"/>
              </a:rPr>
              <a:t>series temporales</a:t>
            </a:r>
            <a:r>
              <a:rPr sz="2800">
                <a:solidFill>
                  <a:schemeClr val="bg1"/>
                </a:solidFill>
                <a:sym typeface="+mn-ea"/>
              </a:rPr>
              <a:t>.</a:t>
            </a:r>
            <a:endParaRPr lang="es-ES" altLang="en-US" sz="2800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222377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2DD4BF"/>
                </a:solidFill>
              </a:rPr>
              <a:t>Conformer</a:t>
            </a:r>
            <a:endParaRPr sz="3600" b="1">
              <a:solidFill>
                <a:srgbClr val="2DD4BF"/>
              </a:solidFill>
            </a:endParaRPr>
          </a:p>
        </p:txBody>
      </p:sp>
      <p:pic>
        <p:nvPicPr>
          <p:cNvPr id="7" name="Imagen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33458" t="16898" r="32974" b="14157"/>
          <a:stretch>
            <a:fillRect/>
          </a:stretch>
        </p:blipFill>
        <p:spPr>
          <a:xfrm>
            <a:off x="6113145" y="883920"/>
            <a:ext cx="4405630" cy="5090160"/>
          </a:xfrm>
          <a:prstGeom prst="rect">
            <a:avLst/>
          </a:prstGeom>
        </p:spPr>
      </p:pic>
      <p:sp>
        <p:nvSpPr>
          <p:cNvPr id="8" name="Cuadro de texto 7"/>
          <p:cNvSpPr txBox="1"/>
          <p:nvPr/>
        </p:nvSpPr>
        <p:spPr>
          <a:xfrm>
            <a:off x="1338580" y="1263015"/>
            <a:ext cx="3195320" cy="25190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s-BO" altLang="en-US" sz="2800" b="1">
                <a:solidFill>
                  <a:schemeClr val="bg1"/>
                </a:solidFill>
                <a:ea typeface="Google Sans"/>
                <a:sym typeface="+mn-ea"/>
              </a:rPr>
              <a:t>A</a:t>
            </a:r>
            <a:r>
              <a:rPr lang="en-US" altLang="es-ES" sz="2800" b="1">
                <a:solidFill>
                  <a:schemeClr val="bg1"/>
                </a:solidFill>
                <a:ea typeface="Google Sans"/>
                <a:sym typeface="+mn-ea"/>
              </a:rPr>
              <a:t>rquitectura de red neuronal que combina las ventajas de los Transformers y de las Redes Convolucionales (CNN) para procesar secuencias de datos</a:t>
            </a:r>
            <a:endParaRPr lang="en-US" altLang="es-ES" sz="2800" b="1">
              <a:solidFill>
                <a:schemeClr val="bg1"/>
              </a:solidFill>
              <a:ea typeface="Google Sans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559117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2DD4BF"/>
                </a:solidFill>
              </a:rPr>
              <a:t>wav2vec2 (análisis de audio)</a:t>
            </a:r>
            <a:endParaRPr sz="3600" b="1">
              <a:solidFill>
                <a:srgbClr val="2DD4BF"/>
              </a:solidFill>
            </a:endParaRPr>
          </a:p>
        </p:txBody>
      </p:sp>
      <p:sp>
        <p:nvSpPr>
          <p:cNvPr id="7" name="Cuadro de texto 6"/>
          <p:cNvSpPr txBox="1"/>
          <p:nvPr/>
        </p:nvSpPr>
        <p:spPr>
          <a:xfrm>
            <a:off x="548640" y="1684020"/>
            <a:ext cx="2614930" cy="31686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spcAft>
                <a:spcPts val="1200"/>
              </a:spcAft>
            </a:pPr>
            <a:r>
              <a:rPr sz="2800" b="1">
                <a:solidFill>
                  <a:schemeClr val="bg1"/>
                </a:solidFill>
                <a:sym typeface="+mn-ea"/>
              </a:rPr>
              <a:t>•  Modelo de voz autosupervisado (facebook/wav2vec2-xlsr-53-espeak-cv-ft) que transcribe audio directamente a fonemas.</a:t>
            </a:r>
            <a:endParaRPr sz="1600">
              <a:solidFill>
                <a:schemeClr val="bg1"/>
              </a:solidFill>
            </a:endParaRPr>
          </a:p>
          <a:p>
            <a:pPr>
              <a:spcAft>
                <a:spcPts val="1200"/>
              </a:spcAft>
            </a:pPr>
            <a:endParaRPr lang="es-ES" altLang="en-US" sz="1600">
              <a:solidFill>
                <a:schemeClr val="bg1"/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1"/>
          <a:srcRect l="21911" t="20648" r="16068" b="19093"/>
          <a:stretch>
            <a:fillRect/>
          </a:stretch>
        </p:blipFill>
        <p:spPr>
          <a:xfrm>
            <a:off x="4068445" y="1836420"/>
            <a:ext cx="7561580" cy="41325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71323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2DD4BF"/>
                </a:solidFill>
              </a:rPr>
              <a:t>Pipeline</a:t>
            </a:r>
            <a:endParaRPr sz="3600" b="1">
              <a:solidFill>
                <a:srgbClr val="2DD4BF"/>
              </a:solidFill>
            </a:endParaRPr>
          </a:p>
        </p:txBody>
      </p:sp>
      <p:pic>
        <p:nvPicPr>
          <p:cNvPr id="5" name="Imagen 4" descr="pip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32840"/>
            <a:ext cx="121920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DD4BF"/>
                </a:solidFill>
              </a:rPr>
              <a:t>Referencias</a:t>
            </a:r>
            <a:endParaRPr sz="3000" b="1">
              <a:solidFill>
                <a:srgbClr val="2DD4BF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DD4BF"/>
                </a:solidFill>
              </a:rPr>
              <a:t>Habla infantil e impacto psicosocial</a:t>
            </a:r>
            <a:endParaRPr sz="1500" b="1">
              <a:solidFill>
                <a:srgbClr val="2DD4B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5303520" cy="3491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chemeClr val="bg1"/>
                </a:solidFill>
              </a:rPr>
              <a:t>NIDCD (2023). Quick Statistics About Voice, Speech, Language.</a:t>
            </a:r>
            <a:endParaRPr sz="1600">
              <a:solidFill>
                <a:schemeClr val="bg1"/>
              </a:solidFill>
            </a:endParaRPr>
          </a:p>
          <a:p>
            <a:pPr>
              <a:spcAft>
                <a:spcPts val="1000"/>
              </a:spcAft>
            </a:pPr>
            <a:r>
              <a:rPr sz="1400">
                <a:solidFill>
                  <a:schemeClr val="bg1"/>
                </a:solidFill>
                <a:hlinkClick r:id="rId1"/>
              </a:rPr>
              <a:t>https://www.nidcd.nih.gov/health/statistics/quick-statistics-voice-speech-language</a:t>
            </a:r>
            <a:endParaRPr sz="1400">
              <a:solidFill>
                <a:schemeClr val="bg1"/>
              </a:solidFill>
            </a:endParaRPr>
          </a:p>
          <a:p>
            <a:r>
              <a:rPr sz="1600">
                <a:solidFill>
                  <a:schemeClr val="bg1"/>
                </a:solidFill>
              </a:rPr>
              <a:t>Estudio sobre escolares valencianos (2022). Revista de Psicología / Redalyc.</a:t>
            </a:r>
            <a:endParaRPr sz="1600">
              <a:solidFill>
                <a:schemeClr val="bg1"/>
              </a:solidFill>
            </a:endParaRPr>
          </a:p>
          <a:p>
            <a:pPr>
              <a:spcAft>
                <a:spcPts val="1000"/>
              </a:spcAft>
            </a:pPr>
            <a:r>
              <a:rPr sz="1400">
                <a:solidFill>
                  <a:schemeClr val="bg1"/>
                </a:solidFill>
                <a:hlinkClick r:id="rId2"/>
              </a:rPr>
              <a:t>https://www.redalyc.org/journal/6137/613772153012/html/</a:t>
            </a:r>
            <a:endParaRPr sz="1400">
              <a:solidFill>
                <a:schemeClr val="bg1"/>
              </a:solidFill>
            </a:endParaRPr>
          </a:p>
          <a:p>
            <a:r>
              <a:rPr sz="1600">
                <a:solidFill>
                  <a:schemeClr val="bg1"/>
                </a:solidFill>
              </a:rPr>
              <a:t>Frontiers in Psychology (2021). Associations Between Self, Peer, and Teacher Reports of Victimization...</a:t>
            </a:r>
            <a:endParaRPr sz="1600">
              <a:solidFill>
                <a:schemeClr val="bg1"/>
              </a:solidFill>
            </a:endParaRPr>
          </a:p>
          <a:p>
            <a:pPr>
              <a:spcAft>
                <a:spcPts val="1000"/>
              </a:spcAft>
            </a:pPr>
            <a:r>
              <a:rPr sz="1400">
                <a:solidFill>
                  <a:schemeClr val="bg1"/>
                </a:solidFill>
                <a:hlinkClick r:id="rId3"/>
              </a:rPr>
              <a:t>https://www.frontiersin.org/journals/psychology/articles/10.3389/fpsyg.2021.718110/full</a:t>
            </a:r>
            <a:endParaRPr sz="1400">
              <a:solidFill>
                <a:schemeClr val="bg1"/>
              </a:solidFill>
            </a:endParaRPr>
          </a:p>
          <a:p>
            <a:r>
              <a:rPr sz="1600">
                <a:solidFill>
                  <a:schemeClr val="bg1"/>
                </a:solidFill>
              </a:rPr>
              <a:t>Wren, Y. et al. (2023). Social, emotional and behavioural difficulties... JCPP Advances.</a:t>
            </a:r>
            <a:endParaRPr sz="1600">
              <a:solidFill>
                <a:schemeClr val="bg1"/>
              </a:solidFill>
            </a:endParaRPr>
          </a:p>
          <a:p>
            <a:pPr>
              <a:spcAft>
                <a:spcPts val="1000"/>
              </a:spcAft>
            </a:pPr>
            <a:r>
              <a:rPr sz="1400">
                <a:solidFill>
                  <a:schemeClr val="bg1"/>
                </a:solidFill>
                <a:hlinkClick r:id="rId4"/>
              </a:rPr>
              <a:t>https://acamh.onlinelibrary.wiley.com/doi/full/10.1002/jcv2.12126</a:t>
            </a:r>
            <a:endParaRPr sz="1400">
              <a:solidFill>
                <a:schemeClr val="bg1"/>
              </a:solidFill>
              <a:hlinkClick r:id="rId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126480" y="114300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DD4BF"/>
                </a:solidFill>
              </a:rPr>
              <a:t>Base técnica (VSR / audio)</a:t>
            </a:r>
            <a:endParaRPr sz="1500" b="1">
              <a:solidFill>
                <a:srgbClr val="2DD4B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126480" y="1600200"/>
            <a:ext cx="5303520" cy="3938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Bulat &amp; Tzimiropoulos (2017). Face alignment (HRNet). ICCV.</a:t>
            </a:r>
            <a:endParaRPr sz="1600">
              <a:solidFill>
                <a:srgbClr val="FFFFFF"/>
              </a:solidFill>
            </a:endParaRP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6EC1E4"/>
                </a:solidFill>
                <a:hlinkClick r:id="rId5"/>
              </a:rPr>
              <a:t>https://arxiv.org/abs/1703.07332</a:t>
            </a:r>
            <a:endParaRPr sz="1400">
              <a:solidFill>
                <a:srgbClr val="6EC1E4"/>
              </a:solidFill>
            </a:endParaRPr>
          </a:p>
          <a:p>
            <a:r>
              <a:rPr sz="1600">
                <a:solidFill>
                  <a:srgbClr val="FFFFFF"/>
                </a:solidFill>
              </a:rPr>
              <a:t>Martinez et al. (2020). Lipreading with TCN. ICASSP.</a:t>
            </a:r>
            <a:endParaRPr sz="1600">
              <a:solidFill>
                <a:srgbClr val="FFFFFF"/>
              </a:solidFill>
            </a:endParaRP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6EC1E4"/>
                </a:solidFill>
                <a:hlinkClick r:id="rId6"/>
              </a:rPr>
              <a:t>https://arxiv.org/abs/2001.08702</a:t>
            </a:r>
            <a:endParaRPr sz="1400">
              <a:solidFill>
                <a:srgbClr val="6EC1E4"/>
              </a:solidFill>
            </a:endParaRPr>
          </a:p>
          <a:p>
            <a:r>
              <a:rPr sz="1600">
                <a:solidFill>
                  <a:srgbClr val="FFFFFF"/>
                </a:solidFill>
              </a:rPr>
              <a:t>Gulati et al. (2020). Conformer. Interspeech.</a:t>
            </a:r>
            <a:endParaRPr sz="1600">
              <a:solidFill>
                <a:srgbClr val="FFFFFF"/>
              </a:solidFill>
            </a:endParaRP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6EC1E4"/>
                </a:solidFill>
                <a:hlinkClick r:id="rId7"/>
              </a:rPr>
              <a:t>https://arxiv.org/abs/2005.08100</a:t>
            </a:r>
            <a:endParaRPr sz="1400">
              <a:solidFill>
                <a:srgbClr val="6EC1E4"/>
              </a:solidFill>
            </a:endParaRPr>
          </a:p>
          <a:p>
            <a:r>
              <a:rPr sz="1600">
                <a:solidFill>
                  <a:srgbClr val="FFFFFF"/>
                </a:solidFill>
              </a:rPr>
              <a:t>Vaswani et al. (2017). Attention is all you need. NeurIPS.</a:t>
            </a:r>
            <a:endParaRPr sz="1600">
              <a:solidFill>
                <a:srgbClr val="FFFFFF"/>
              </a:solidFill>
            </a:endParaRP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6EC1E4"/>
                </a:solidFill>
                <a:hlinkClick r:id="rId8"/>
              </a:rPr>
              <a:t>https://arxiv.org/abs/1706.03762</a:t>
            </a:r>
            <a:endParaRPr sz="1400">
              <a:solidFill>
                <a:srgbClr val="6EC1E4"/>
              </a:solidFill>
            </a:endParaRPr>
          </a:p>
          <a:p>
            <a:r>
              <a:rPr sz="1600">
                <a:solidFill>
                  <a:srgbClr val="FFFFFF"/>
                </a:solidFill>
              </a:rPr>
              <a:t>Chung &amp; Zisserman (2016). Lip reading in the wild. ACCV.</a:t>
            </a:r>
            <a:endParaRPr sz="1600">
              <a:solidFill>
                <a:srgbClr val="FFFFFF"/>
              </a:solidFill>
            </a:endParaRP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6EC1E4"/>
                </a:solidFill>
                <a:hlinkClick r:id="rId9"/>
              </a:rPr>
              <a:t>https://www.robots.ox.ac.uk/~vgg/publications/2016/Chung16/chung16.pdf</a:t>
            </a:r>
            <a:endParaRPr sz="1400">
              <a:solidFill>
                <a:srgbClr val="6EC1E4"/>
              </a:solidFill>
            </a:endParaRPr>
          </a:p>
          <a:p>
            <a:r>
              <a:rPr sz="1600">
                <a:solidFill>
                  <a:srgbClr val="FFFFFF"/>
                </a:solidFill>
              </a:rPr>
              <a:t>Baevski et al. (2020). wav2vec 2.0. NeurIPS.</a:t>
            </a:r>
            <a:endParaRPr sz="1600">
              <a:solidFill>
                <a:srgbClr val="FFFFFF"/>
              </a:solidFill>
            </a:endParaRP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6EC1E4"/>
                </a:solidFill>
                <a:hlinkClick r:id="rId10"/>
              </a:rPr>
              <a:t>https://arxiv.org/abs/2006.11477</a:t>
            </a:r>
            <a:endParaRPr sz="1400">
              <a:solidFill>
                <a:srgbClr val="6EC1E4"/>
              </a:solidFill>
            </a:endParaRP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</a:rPr>
              <a:t>Witt &amp; Young (2000). GOP scoring. Speech Communication.</a:t>
            </a:r>
            <a:endParaRPr sz="1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INDEX" val="3"/>
  <p:tag name="KSO_WM_UNIT_TYPE" val="j"/>
  <p:tag name="KSO_WM_BEAUTIFY_FLAG" val="#wm#"/>
</p:tagLst>
</file>

<file path=ppt/tags/tag2.xml><?xml version="1.0" encoding="utf-8"?>
<p:tagLst xmlns:p="http://schemas.openxmlformats.org/presentationml/2006/main">
  <p:tag name="KSO_WM_UNIT_INDEX" val="3"/>
  <p:tag name="KSO_WM_UNIT_TYPE" val="j"/>
  <p:tag name="KSO_WM_BEAUTIFY_FLAG" val="#wm#"/>
</p:tagLst>
</file>

<file path=ppt/tags/tag3.xml><?xml version="1.0" encoding="utf-8"?>
<p:tagLst xmlns:p="http://schemas.openxmlformats.org/presentationml/2006/main">
  <p:tag name="KSO_WM_UNIT_INDEX" val="3"/>
  <p:tag name="KSO_WM_UNIT_TYPE" val="j"/>
  <p:tag name="KSO_WM_BEAUTIFY_FLAG" val="#wm#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3781</Words>
  <Application>WPS Presentation</Application>
  <PresentationFormat>On-screen Show (4:3)</PresentationFormat>
  <Paragraphs>96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SimSun</vt:lpstr>
      <vt:lpstr>Wingdings</vt:lpstr>
      <vt:lpstr>Arial</vt:lpstr>
      <vt:lpstr>Google Sans</vt:lpstr>
      <vt:lpstr>Segoe Print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Josè Davìd Quispe Sucullani</cp:lastModifiedBy>
  <cp:revision>18</cp:revision>
  <dcterms:created xsi:type="dcterms:W3CDTF">2013-01-27T09:14:00Z</dcterms:created>
  <dcterms:modified xsi:type="dcterms:W3CDTF">2026-09-27T23:55:30Z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264AAA49500E43708702BCA9FED28D84_12</vt:lpwstr>
  </property>
  <property fmtid="{D5CDD505-2E9C-101B-9397-08002B2CF9AE}" pid="3" name="KSOProductBuildVer">
    <vt:lpwstr>3082-12.1.0.28485</vt:lpwstr>
  </property>
</Properties>
</file>